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9E0B"/>
                </a:solidFill>
              </a:rPr>
              <a:t>CRYPTO MARKET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8FAFC"/>
                </a:solidFill>
              </a:rPr>
              <a:t>Systeme de surveillance des marches crypto en temps reel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Pipeline Kafka  -  Analytics en fenetre glissante  -  Dashboard live Socket.IO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3657600"/>
            <a:ext cx="5394960" cy="15087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794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</a:rPr>
              <a:t>Adam Beloucif  &amp;  Emilien Morice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251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M1 Data Engineering &amp; IA - EFREI Paris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617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Module Real-Time Engineering  - 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5CF6"/>
                </a:solidFill>
              </a:rPr>
              <a:t>Projet realise a 2 personnes (consigne prevue pour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Contexte et problematique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Marches crypto : 100M+ transactions/jour sur 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Volatilite extreme, besoin de reaction &lt; 1 seconde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Plusieurs sources heterogenes (Binance + Coinbase)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Detecter les mouvements anormaux en continu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Afficher les metriques live sans polling 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4864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Problematique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Ingerer des flux WebSocket haute frequence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482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Decoupler ingestion / traitement / affichage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323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Calculer VWAP, SMA, z-score en temps reel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16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Pousser les mises a jour vers N clients simultanement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Resilience : reconnexion auto, tolerance aux pannes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Architecture globale - Pipeline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3/12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2651760"/>
            <a:ext cx="1920240" cy="1280160"/>
          </a:xfrm>
          <a:prstGeom prst="rect">
            <a:avLst/>
          </a:prstGeom>
          <a:solidFill>
            <a:srgbClr val="8B5CF6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</a:rPr>
              <a:t>Sources WS</a:t>
            </a:r>
          </a:p>
          <a:p>
            <a:pPr algn="ctr"/>
            <a:r>
              <a:rPr sz="1100" b="1">
                <a:solidFill>
                  <a:srgbClr val="F8FAFC"/>
                </a:solidFill>
              </a:rPr>
              <a:t>Binance + Coinbase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651760"/>
            <a:ext cx="192024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1A"/>
                </a:solidFill>
              </a:rPr>
              <a:t>Ingester</a:t>
            </a:r>
          </a:p>
          <a:p>
            <a:pPr algn="ctr"/>
            <a:r>
              <a:rPr sz="1100" b="1">
                <a:solidFill>
                  <a:srgbClr val="0A0E1A"/>
                </a:solidFill>
              </a:rPr>
              <a:t>Node.js + 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2651760"/>
            <a:ext cx="2011680" cy="1280160"/>
          </a:xfrm>
          <a:prstGeom prst="rect">
            <a:avLst/>
          </a:prstGeom>
          <a:solidFill>
            <a:srgbClr val="231F20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</a:rPr>
              <a:t>Apache Kafka</a:t>
            </a:r>
          </a:p>
          <a:p>
            <a:pPr algn="ctr"/>
            <a:r>
              <a:rPr sz="1100" b="1">
                <a:solidFill>
                  <a:srgbClr val="F8FAFC"/>
                </a:solidFill>
              </a:rPr>
              <a:t>KRaft 3.7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651760"/>
            <a:ext cx="192024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1A"/>
                </a:solidFill>
              </a:rPr>
              <a:t>Processor</a:t>
            </a:r>
          </a:p>
          <a:p>
            <a:pPr algn="ctr"/>
            <a:r>
              <a:rPr sz="1100" b="1">
                <a:solidFill>
                  <a:srgbClr val="0A0E1A"/>
                </a:solidFill>
              </a:rPr>
              <a:t>VWAP SMA Z-score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2651760"/>
            <a:ext cx="256032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1A"/>
                </a:solidFill>
              </a:rPr>
              <a:t>API + Dashboard</a:t>
            </a:r>
          </a:p>
          <a:p>
            <a:pPr algn="ctr"/>
            <a:r>
              <a:rPr sz="1100" b="1">
                <a:solidFill>
                  <a:srgbClr val="0A0E1A"/>
                </a:solidFill>
              </a:rPr>
              <a:t>Express / Socket.IO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Kafka decouples les producteurs des consommateurs : debits independants sans perte de donnees.
Retention configurable (1h par defaut). Partitionnement par symbole (BTC-USDT, ETH-USDT, BTC-USD).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Apache Kafka - Mode KRaft (sans Zookeeper)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Pourquoi Kafka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Tampon tolerant aux pannes entre ingestion et traitement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Les producteurs ecrivent a la vitesse du marche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Les consommateurs lisent a leur propre rythme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Multi-consommateurs independants sur le meme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Retention configurable : relecture en cas de crash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Image bitnami/kafka:3.7 (KRaft pre-configure)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486400" cy="23774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KRaft vs Zookeeper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6420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Kafka 3.7+ gere ses metadonnees via Raft interne.
Supprime la dependance Zookeeper.
Deploiement : 1 conteneur + 1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57600"/>
            <a:ext cx="5486400" cy="2423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Topics du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crypto-trades  -&gt;  transactions brutes normalisees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36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crypto-metrics  -&gt;  metriques calculees par symbole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20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Cle de partition = symbole (ordre des messages garanti par paire)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Service Ingester - Collecte des flux WebSocket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5/12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Sources de donnees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Binance : BTC/USDT, ETH/USDT (stream combine)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Coinbase Advanced Trade : BTC-USD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wss://stream.binance.com:9443/stream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wss://advanced-trade-ws.coinbase.com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Interface Trade normalisee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{ exchange, symbol, price, quantity,
  timestamp, tradeId, side, value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4864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642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Reconnexion auto avec backoff exponentiel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482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Max 10 tentatives par connexion 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323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Delai initial 1s, max 30s entre tentatives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16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Heartbeat Coinbase gere (channel heartbeats)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Arret propre SIGTERM/SIGINT (vidage buffer Kafka)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84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Partitionnement par cle symbole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Service Processor - Moteur Analytique Temps Reel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6/12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5214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Metrique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15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Formule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15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Fenetre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115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Objectif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1152144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550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VWAP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550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sum(prix * qte) / sum(qte)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550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1 minute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550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Prix moyen pondere par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1521440" cy="502920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8541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SMA-20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85415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moyenne des 20 derniers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8541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20 trades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8541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Tendance de court terme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52144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157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Z-Score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715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(valeur - mu) / sigma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15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1 minute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Alerte si &gt; seuil 2.5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63824"/>
            <a:ext cx="11521440" cy="502920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46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Var. 1min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246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(prix - prix_0) / prix_0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1 minute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246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Performance instantanee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94176"/>
            <a:ext cx="1152144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76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Var. 5min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776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(prix - prix_0) / prix_0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776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5 minutes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776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Performance moyen terme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24528"/>
            <a:ext cx="11521440" cy="502920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306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</a:rPr>
              <a:t>High/Low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3068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max/min des prix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3068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1 minute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068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Amplitude de la bougie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5CF6"/>
                </a:solidFill>
              </a:rPr>
              <a:t>Buffer circulaire en memoire : max 1000 trades/symbole, eviction TTL 10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Service API - Express + Socket.IO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7/12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Endpoints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GET /api/health            sante du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GET /api/metrics           toutes les metriques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GET /api/metrics/:symbol   par paire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GET /api/history/:symbol   historique (max 200)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GET /api/anomalies         50 dernieres alertes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4864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Evenements Socket.IO (push serveur)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metrics:update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Nouvelles metriques calculees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anomaly:detected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Alerte z-score &gt; seuil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server:stats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Stats serveur (connexions, msg/s)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initial:state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37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Etat complet a la connexion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subscribe:symbol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Choix de la paire par le client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Dashboard - Interface Temps Reel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8/12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Composants visuels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Prix hero avec flash vert/rouge au changement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Badges variation 1min et 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4 stat-cards : Volume, Trades, High,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Graphique prix + SMA-20 (Chart.js 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Barres de volume par paire (Chart.js bar)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Flux anomalies avec beep AudioContext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68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Horloge + statut connexion temps reel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Qualite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642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Dark theme EFREI : navy #0A0E1A + amber #F59E0B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482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Logos SVG officiels Bitcoin, Ethereum, Coinbase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323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Barre accent EFREI amber-purple en haut de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16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i18n FR/EN avec bascule instantanee (localStorage)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Mode demo : donnees simulees si backend absent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84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Inter + JetBrains Mono (Google Fonts)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684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Animations CSS 150ms, prefers-reduced-motion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Securite - Niveau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9/12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521440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helmet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HTTP headers (CSP, HSTS, X-Frame-Options, nosniff...)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19"/>
            <a:ext cx="11521440" cy="512064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express-rate-limit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100 req / 15min par IP - protection brute-force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1521440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zod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Validation stricte des variables d'environnement au demarrage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11521440" cy="512064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morgan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346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Logging HTTP avec rotation - zero stack trace cote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39"/>
            <a:ext cx="11521440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CORS strict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7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Whitelist explicite des origines autorisees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11521440" cy="512064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Non-root 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9319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Tous les conteneurs tournent en utilisateur appuser (UID 1000)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11521440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05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.dockerignore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48055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Exclusion des .env, node_modules, secrets des images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37760"/>
            <a:ext cx="11521440" cy="512064"/>
          </a:xfrm>
          <a:prstGeom prst="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Secrets env vars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292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Zero secret en dur - .env gitignored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Multilinguisme - i18n Francais / Anglais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10/12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Architecture i18n (vanilla 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Module IIFE I18n - zero dependance externe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Chargement async des JSON depuis i18n/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Langue persistee dans localStorage (cmm-locale)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Attributs data-i18n sur tous les elements statiques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Fonctions formatPrice/formatTime locale-aware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Boutons FR | EN en header avec aria-pressed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68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  document.documentElement.lang mis a jour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Exemple (fr.json)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64208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{
  "title": "CRYPTO MONITOR",
  "live": "EN DIRECT",
  "connected": "Connecte",
  "anomalies": {
    "title": "Alertes anomalies",
    "zscore": "Score Z"
  },
  "footer": {
    "module": "Ingenierie Temps Reel"
  }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Deploiement - 3 options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11/12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65760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Option 1
Lanceur autonome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node launcher/src/index.mjs
Verifie Docker, build,
attend les healthchecks
et ouvre le dashboard.
Compile en .exe (pkg) :
npm run build:win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51560"/>
            <a:ext cx="3749039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1887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Option 2
Image tout-en-un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38528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docker build \
  -f all-in-one.Dockerfile \
  -t crypto-monitor .
docker run -p 8080:8080 \
  crypto-monitor
1 conteneur supervisord :
Kafka + 3 services + nginx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51560"/>
            <a:ext cx="3840480" cy="5029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188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Option 3
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38528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</a:rPr>
              <a:t>cp .env.example .env
docker-compose up \
  --build -d
6 services :
kafka, kafka-ui,
ingester, processor,
api, dashboard (nginx)
Dashboard  :8080
Kafka UI   :8090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M1 EFREI - Real-Time Engineering  |  Adam Beloucif, Emilien Morice  |  12/12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2743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Ce qui a ete realise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Pipeline Kafka bout-en-bout fonctionnel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3 services TypeScript + dashboard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Analytics : VWAP, SMA-20, z-score, high/low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Securite production (helmet, rate-limit, zod)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i18n FR/EN + mode demo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486400" cy="2743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Contexte du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Realise a 2 (consigne prevue pour 4 personnes)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482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M1 Real-Time Engineering - EFREI Paris 2025-2026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323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TypeScript strict, Docker multi-stage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16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3 options de deploiement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11521440" cy="26060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Perspectives d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902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Ajout de paires supplementaires (SOL, BNB, XRP...)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743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Alertes email/SMS via webhook Kafka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58383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Stockage historique dans InfluxDB ou TimescaleDB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42431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  Deploiement Kubernetes (Helm chart) pour la scalabilite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