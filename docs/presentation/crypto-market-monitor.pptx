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73152" cy="67848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45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59E0B"/>
                </a:solidFill>
                <a:latin typeface="Calibri"/>
              </a:rPr>
              <a:t>Crypto Market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8FAFC"/>
                </a:solidFill>
                <a:latin typeface="Calibri"/>
              </a:rPr>
              <a:t>Systeme de surveillance de marches crypto en temps reel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154680"/>
            <a:ext cx="5788152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337560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8FAFC"/>
                </a:solidFill>
                <a:latin typeface="Calibri"/>
              </a:rPr>
              <a:t>Adam Beloucif  -  Emilien Morice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M1 Data Engineering &amp; IA  -  EFREI Paris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4340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Module: Real-Time Engineering  -  Annee 2025-2026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05356" y="5212080"/>
            <a:ext cx="1645920" cy="45720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05356" y="5212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9E0B"/>
                </a:solidFill>
                <a:latin typeface="Calibri"/>
              </a:rPr>
              <a:t>Kafka KRaft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88436" y="5212080"/>
            <a:ext cx="1645920" cy="45720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8436" y="5212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9E0B"/>
                </a:solidFill>
                <a:latin typeface="Calibri"/>
              </a:rPr>
              <a:t>TypeScript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71516" y="5212080"/>
            <a:ext cx="1645920" cy="45720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71516" y="5212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9E0B"/>
                </a:solidFill>
                <a:latin typeface="Calibri"/>
              </a:rPr>
              <a:t>Node.js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54596" y="5212080"/>
            <a:ext cx="1645920" cy="45720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4596" y="5212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9E0B"/>
                </a:solidFill>
                <a:latin typeface="Calibri"/>
              </a:rPr>
              <a:t>WebSocket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7676" y="5212080"/>
            <a:ext cx="1645920" cy="45720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7676" y="5212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9E0B"/>
                </a:solidFill>
                <a:latin typeface="Calibri"/>
              </a:rPr>
              <a:t>Docker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" y="6784848"/>
            <a:ext cx="1211580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"/>
              </a:rPr>
              <a:t>Contexte et Problematique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36576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100584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4864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Marches crypto volatils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Les cryptomonnaies connaissent des variations de prix extremes en quelques secondes. Un pipeline temps reel est indispensable pour capturer ces mouvements.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11274552" cy="100584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377440"/>
            <a:ext cx="54864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Donnees en temps reel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76148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Binance et Coinbase exposent des flux WebSocket publics avec des trades a haute frequence. Chaque message contient prix, volume, horodatage.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66160"/>
            <a:ext cx="11274552" cy="100584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566160"/>
            <a:ext cx="54864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61188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Besoin de surveillance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502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Les traders et analystes ont besoin d'indicateurs calcules en continu: VWAP, moyennes mobiles, alertes d'anomalies statistiques.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754880"/>
            <a:ext cx="11274552" cy="100584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754880"/>
            <a:ext cx="54864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80060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Detection d'anomalies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13892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Le z-score permet d'identifier les mouvements de prix hors norme (seuil 2.5 sigma), declenchant des alertes visuelles et sonores.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11274552" cy="91440"/>
          </a:xfrm>
          <a:prstGeom prst="rect">
            <a:avLst/>
          </a:prstGeom>
          <a:solidFill>
            <a:srgbClr val="F59E0B"/>
          </a:solidFill>
        </p:spPr>
        <p:txBody>
          <a:bodyPr wrap="none">
            <a:spAutoFit/>
          </a:bodyPr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57200" y="6629400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M1 EFREI - Real-Time Engineering 2025-2026  |  Adam Beloucif, Emilien Morice  |  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"/>
              </a:rPr>
              <a:t>Architecture Globale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36576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371600"/>
            <a:ext cx="1417320" cy="105156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141732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508760"/>
            <a:ext cx="141732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WebSocket
Binance/Coinbase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1371600"/>
            <a:ext cx="1417320" cy="105156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65960" y="1371600"/>
            <a:ext cx="14173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5960" y="1508760"/>
            <a:ext cx="141732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Ingester
TypeScript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1371600"/>
            <a:ext cx="1417320" cy="105156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1371600"/>
            <a:ext cx="141732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508760"/>
            <a:ext cx="141732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Kafka
KRaft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1371600"/>
            <a:ext cx="1417320" cy="105156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57800" y="1371600"/>
            <a:ext cx="14173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1508760"/>
            <a:ext cx="141732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Processor
TypeScript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1371600"/>
            <a:ext cx="1417320" cy="105156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03720" y="1371600"/>
            <a:ext cx="141732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08760"/>
            <a:ext cx="141732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API
Express+Socket.IO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9640" y="1371600"/>
            <a:ext cx="1417320" cy="105156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49640" y="1371600"/>
            <a:ext cx="141732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1508760"/>
            <a:ext cx="141732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Dashboard
HTML/CSS/JS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173736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94A3B8"/>
                </a:solidFill>
                <a:latin typeface="Calibri"/>
              </a:rPr>
              <a:t>-&gt;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173736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94A3B8"/>
                </a:solidFill>
                <a:latin typeface="Calibri"/>
              </a:rPr>
              <a:t>-&gt;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173736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94A3B8"/>
                </a:solidFill>
                <a:latin typeface="Calibri"/>
              </a:rPr>
              <a:t>-&gt;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173736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94A3B8"/>
                </a:solidFill>
                <a:latin typeface="Calibri"/>
              </a:rPr>
              <a:t>-&gt;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173736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94A3B8"/>
                </a:solidFill>
                <a:latin typeface="Calibri"/>
              </a:rPr>
              <a:t>-&gt;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260604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Port 9092
trades + 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" y="260604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Reconnexion
automatique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260604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KRaft - no
Zookeeper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7800" y="260604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VWAP / SMA
Z-score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260604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REST + WS
push live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260604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Chart.js
Dark theme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337560"/>
            <a:ext cx="11274552" cy="237744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3429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Flux de donnees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384048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1. Les exchanges Binance (BTC/USDT, ETH/USDT) et Coinbase (BTC-USD) publient des trades via WebSocket.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13308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2. Le service Ingester consomme ces flux, normalise les messages dans une interface Trade unifiee,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442569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   puis produit vers Kafka (topic: crypto-trades, partitionne par symbole).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718304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3. Le Processor consomme crypto-trades, calcule VWAP, SMA-20, z-score et publie dans crypto-metrics.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010912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4. L'API Express consomme crypto-metrics, stocke en ring buffer et pousse via Socket.IO vers les clients.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53035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5. Le Dashboard (navigateur) recoit les updates en temps reel et met a jour les graphiques Chart.js.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537960"/>
            <a:ext cx="11274552" cy="91440"/>
          </a:xfrm>
          <a:prstGeom prst="rect">
            <a:avLst/>
          </a:prstGeom>
          <a:solidFill>
            <a:srgbClr val="F59E0B"/>
          </a:solidFill>
        </p:spPr>
        <p:txBody>
          <a:bodyPr wrap="none">
            <a:spAutoFit/>
          </a:bodyPr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7200" y="6629400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M1 EFREI - Real-Time Engineering 2025-2026  |  Adam Beloucif, Emilien Morice  |  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"/>
              </a:rPr>
              <a:t>Apache Kafka - Mode KRaft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365760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303520" cy="246888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  <a:latin typeface="Calibri"/>
              </a:rPr>
              <a:t>Mode KRaft (sans Zookeeper)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- Kafka 3.x+ integre la gestion des metadonnees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4767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  directement (Kafka Raft Metadata Mode)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0370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- Elimine la dependance a Apache Zookeeper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973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- Simplification du deploiement Docker (1 seul service)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1576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- Latence reduite: consensus Raft integre au broker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7180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- KAFKA_NODE_ID=1, KAFKA_PROCESS_ROLES=broker,controller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2783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- KAFKA_CONTROLLER_QUORUM_VOTERS=1@kafka:9093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62472" y="1188720"/>
            <a:ext cx="5669280" cy="246888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Topics et Partitionnement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16916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94A3B8"/>
                </a:solidFill>
                <a:latin typeface="Calibri"/>
              </a:rPr>
              <a:t>Topic                  Partitions   Retention   Description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352" y="1938528"/>
            <a:ext cx="5303520" cy="182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352" y="2011680"/>
            <a:ext cx="5303520" cy="457200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072" y="2057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  <a:latin typeface="Calibri"/>
              </a:rPr>
              <a:t>crypto-trades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0574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3 partitions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20574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alibri"/>
              </a:rPr>
              <a:t>7 jours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920" y="2057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Messages trades bruts normalises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5352" y="2514600"/>
            <a:ext cx="5303520" cy="457200"/>
          </a:xfrm>
          <a:prstGeom prst="rect">
            <a:avLst/>
          </a:prstGeom>
          <a:solidFill>
            <a:srgbClr val="1A2538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91072" y="2560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  <a:latin typeface="Calibri"/>
              </a:rPr>
              <a:t>crypto-metrics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2560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3 partitions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25603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alibri"/>
              </a:rPr>
              <a:t>1 jour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2560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Metriques calculees par symbole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840480"/>
            <a:ext cx="5303520" cy="233172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931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Configuration Kafka (docker-compose)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37083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ourier New"/>
              </a:rPr>
              <a:t>KAFKA_LISTENERS: PLAINTEXT://0.0.0.0:9092,CONTROLLER://...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6451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ourier New"/>
              </a:rPr>
              <a:t>KAFKA_ADVERTISED_LISTENERS: PLAINTEXT://kafka:9092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91947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ourier New"/>
              </a:rPr>
              <a:t>KAFKA_AUTO_CREATE_TOPICS_ENABLE: true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19379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ourier New"/>
              </a:rPr>
              <a:t>KAFKA_LOG_RETENTION_HOURS: 168 (7 jours)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46811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ourier New"/>
              </a:rPr>
              <a:t>KAFKA_NUM_PARTITIONS: 3 (par defaut)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74243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ourier New"/>
              </a:rPr>
              <a:t>KAFKA_DEFAULT_REPLICATION_FACTOR: 1 (single-node dev)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62472" y="3840480"/>
            <a:ext cx="5669280" cy="233172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45352" y="3931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Kafka UI - Monitoring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2" y="4343400"/>
            <a:ext cx="53035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Interface web kafka-ui (provectus/kafka-ui)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2" y="4590288"/>
            <a:ext cx="53035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Accessible sur http://localhost:8080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2" y="4837176"/>
            <a:ext cx="53035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2" y="5084064"/>
            <a:ext cx="53035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Fonctionnalites: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45352" y="5330952"/>
            <a:ext cx="53035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alibri"/>
              </a:rPr>
              <a:t>- Visualisation des topics et partitions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5577840"/>
            <a:ext cx="53035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alibri"/>
              </a:rPr>
              <a:t>- Consultation des messages en temps reel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2" y="5824728"/>
            <a:ext cx="53035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alibri"/>
              </a:rPr>
              <a:t>- Monitoring des consumer groups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2" y="6071616"/>
            <a:ext cx="53035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alibri"/>
              </a:rPr>
              <a:t>- Inspection des offsets et lag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537960"/>
            <a:ext cx="11274552" cy="91440"/>
          </a:xfrm>
          <a:prstGeom prst="rect">
            <a:avLst/>
          </a:prstGeom>
          <a:solidFill>
            <a:srgbClr val="F59E0B"/>
          </a:solidFill>
        </p:spPr>
        <p:txBody>
          <a:bodyPr wrap="none">
            <a:spAutoFit/>
          </a:bodyPr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57200" y="6629400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M1 EFREI - Real-Time Engineering 2025-2026  |  Adam Beloucif, Emilien Morice  |  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"/>
              </a:rPr>
              <a:t>Service Ingester - Collecte WebSocket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36576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474720" cy="498348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Sources de donnees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3108960" cy="1188720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45720" cy="1188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Binance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4A3B8"/>
                </a:solidFill>
                <a:latin typeface="Courier New"/>
              </a:rPr>
              <a:t>wss://stream.binance.com:9443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957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Symboles: BTC/USDT, ETH/USDT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3347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Format: JSON stream (trades)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3108960" cy="1188720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108960"/>
            <a:ext cx="45720" cy="1188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154679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  <a:latin typeface="Calibri"/>
              </a:rPr>
              <a:t>Coinbase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74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4A3B8"/>
                </a:solidFill>
                <a:latin typeface="Courier New"/>
              </a:rPr>
              <a:t>wss://advanced-trade-ws.coinbase.com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7673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Symboles: BTC-USD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00507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Format: JSON stream (trades)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26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Interface Trade (TypeScript):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846320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0B981"/>
                </a:solidFill>
                <a:latin typeface="Courier New"/>
              </a:rPr>
              <a:t>interface Trade {
  symbol: string
  price:  number
  qty:    number
  ts:     number  // ms
  exchange: string
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60520" y="1188720"/>
            <a:ext cx="3749039" cy="256032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3400" y="12801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  <a:latin typeface="Calibri"/>
              </a:rPr>
              <a:t>Strategie de reconnexion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17190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Backoff exponentiel avec jitter: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19476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21762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delay = min(base * 2^attempt, maxDelay)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24048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       + random(0, jitter)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26334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28620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base = 1000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0906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maxDelay = 30000 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33192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jitter = 1000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35478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43400" y="37764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Avantages: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40050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- Evite le thundering herd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42336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- Reconnexion automatique sans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44622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  intervention manuelle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43400" y="46908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- Logs detailles par tentative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60520" y="3931920"/>
            <a:ext cx="3749039" cy="224028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43400" y="40233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Normalisation des messages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43400" y="44622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Binance: champ 'p' = prix, 'q' = quantite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43400" y="46908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Coinbase: champ 'price', 'size'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43400" y="49194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43400" y="51480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Converge vers Trade unifie avant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43400" y="53766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publication Kafka: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56052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- Parsing JSON + validation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43400" y="58338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- Conversion string -&gt; number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43400" y="60624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- Horodatage normalise en 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43400" y="629107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- Symbol: BTC-USD -&gt; BTC/USD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1188720"/>
            <a:ext cx="3593592" cy="498348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21040" y="1280160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Kafka Producer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1719072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Library: kafkajs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1956815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Topic: crypto-trades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2194560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Partitioning: hash(symbol)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2432304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670048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Configuration: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2907791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  clientId: ingester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3145536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  brokers: [kafka:9092]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3383280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  retry: { retries: 5 }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621024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40" y="3858768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Message format: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4096512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ourier New"/>
              </a:rPr>
              <a:t>{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4334256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  key: symbol (Buffer),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4572000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  value: JSON.stringify(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1040" y="4809744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    trade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5047488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ourier New"/>
              </a:rPr>
              <a:t>  ),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5285232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  timestamp: Date.now()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5522976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ourier New"/>
              </a:rPr>
              <a:t>}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5760720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1040" y="5998464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Throughput mesure: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1040" y="6236208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alibri"/>
              </a:rPr>
              <a:t>~200-500 msg/s par symbole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1040" y="6473952"/>
            <a:ext cx="3227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en conditions normales.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6537960"/>
            <a:ext cx="11274552" cy="91440"/>
          </a:xfrm>
          <a:prstGeom prst="rect">
            <a:avLst/>
          </a:prstGeom>
          <a:solidFill>
            <a:srgbClr val="F59E0B"/>
          </a:solidFill>
        </p:spPr>
        <p:txBody>
          <a:bodyPr wrap="none">
            <a:spAutoFit/>
          </a:bodyPr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57200" y="6629400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M1 EFREI - Real-Time Engineering 2025-2026  |  Adam Beloucif, Emilien Morice  |  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"/>
              </a:rPr>
              <a:t>Service Processor - Analytique Temps Reel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45720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566160" cy="265176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VWAP - Volume Weighted Average Price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ourier New"/>
              </a:rPr>
              <a:t>VWAP = SUM(price_i * qty_i) / SUM(qty_i)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12848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Calcule sur la fenetre glissante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32304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des 100 derniers trades (circular buffer).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71215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Indicateur cle pour evaluer si 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90672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prix actuel est au-dessus ou 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10128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dessous du prix moyen pondere.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29584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749039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Reset partiel a chaque nouveau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68496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trade: O(1) avec buffer circulaire.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1188720"/>
            <a:ext cx="3566160" cy="265176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Calibri"/>
              </a:rPr>
              <a:t>SMA-20 - Moyenne Mobile Simple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ourier New"/>
              </a:rPr>
              <a:t>SMA = (1/N) * SUM(close_i, i=t-N+1..t)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212848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N = 20 periodes (trades)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2432304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Lisse les fluctuations de 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2651760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a court terme.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2871215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3090672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Usage: detecter la tendance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3310128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generale (bullish/bearish).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3529584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749039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Compare au prix actuel pour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3968496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signaler croisements notables.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1188720"/>
            <a:ext cx="3685032" cy="265176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1280160"/>
            <a:ext cx="3319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Z-Score - Detection d'Anomalies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1783080"/>
            <a:ext cx="3319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ourier New"/>
              </a:rPr>
              <a:t>z = (x - mean) / std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2212848"/>
            <a:ext cx="3319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Seuil d'alerte: |z| &gt; 2.5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2432304"/>
            <a:ext cx="3319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Fenetre: 50 derniers prix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2651760"/>
            <a:ext cx="3319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2871215"/>
            <a:ext cx="3319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Signification: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3090672"/>
            <a:ext cx="3319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F4444"/>
                </a:solidFill>
                <a:latin typeface="Calibri"/>
              </a:rPr>
              <a:t>z &gt; 2.5  -&gt; spike haussier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3310128"/>
            <a:ext cx="3319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F4444"/>
                </a:solidFill>
                <a:latin typeface="Calibri"/>
              </a:rPr>
              <a:t>z &lt; -2.5 -&gt; spike baissier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3529584"/>
            <a:ext cx="3319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749039"/>
            <a:ext cx="3319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F4444"/>
                </a:solidFill>
                <a:latin typeface="Calibri"/>
              </a:rPr>
              <a:t>Alerte envoyee dans le topic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3968496"/>
            <a:ext cx="3319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crypto-metrics avec flag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187952"/>
            <a:ext cx="3319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isAnomaly: true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005072"/>
            <a:ext cx="5577840" cy="2167128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409651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Autres indicateurs calcules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453542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ourier New"/>
              </a:rPr>
              <a:t>priceChange1m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14600" y="4535424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Variation du prix sur 1 minute en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484632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ourier New"/>
              </a:rPr>
              <a:t>priceChange5m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14600" y="4846320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Variation du prix sur 5 minutes en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515721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ourier New"/>
              </a:rPr>
              <a:t>volume1m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14600" y="5157216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Volume cumule sur 1 minute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546811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ourier New"/>
              </a:rPr>
              <a:t>tradeCount1m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14600" y="5468112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Nombre de trades sur 1 minute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77900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ourier New"/>
              </a:rPr>
              <a:t>high24h / low24h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14600" y="5779008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Plus haut/bas sur les dernieres 24h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63640" y="4005072"/>
            <a:ext cx="5468112" cy="2167128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46520" y="4096512"/>
            <a:ext cx="5102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  <a:latin typeface="Calibri"/>
              </a:rPr>
              <a:t>Circular Buffer - Architecture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46520" y="4535424"/>
            <a:ext cx="51023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Stockage des N derniers trades en memoire: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46520" y="4764024"/>
            <a:ext cx="51023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class CircularBuffer&lt;T&gt; {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46520" y="4992624"/>
            <a:ext cx="51023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  private buffer: T[]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46520" y="5221224"/>
            <a:ext cx="51023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  private head = 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46520" y="5449824"/>
            <a:ext cx="51023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  push(item: T): void  // O(1)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46520" y="5678424"/>
            <a:ext cx="51023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  getAll(): T[]        // O(N)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46520" y="5907024"/>
            <a:ext cx="51023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}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46520" y="6135624"/>
            <a:ext cx="51023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46520" y="6364224"/>
            <a:ext cx="51023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Avantage: pas de shift() couteux (O(N)),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46520" y="6592824"/>
            <a:ext cx="51023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empreinte memoire constante.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6537960"/>
            <a:ext cx="11274552" cy="91440"/>
          </a:xfrm>
          <a:prstGeom prst="rect">
            <a:avLst/>
          </a:prstGeom>
          <a:solidFill>
            <a:srgbClr val="F59E0B"/>
          </a:solidFill>
        </p:spPr>
        <p:txBody>
          <a:bodyPr wrap="none">
            <a:spAutoFit/>
          </a:bodyPr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57200" y="6629400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M1 EFREI - Real-Time Engineering 2025-2026  |  Adam Beloucif, Emilien Morice  |  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"/>
              </a:rPr>
              <a:t>Service API - Express + Socket.IO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36576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Endpoints REST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6675120" cy="347472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alibri"/>
              </a:rPr>
              <a:t>Methode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002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alibri"/>
              </a:rPr>
              <a:t>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60020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alibri"/>
              </a:rPr>
              <a:t>Description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6675120" cy="347472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011679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alibri"/>
              </a:rPr>
              <a:t>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11679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/api/health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011679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Healthcheck du service 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675120" cy="347472"/>
          </a:xfrm>
          <a:prstGeom prst="rect">
            <a:avLst/>
          </a:prstGeom>
          <a:solidFill>
            <a:srgbClr val="172033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377439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alibri"/>
              </a:rPr>
              <a:t>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377439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/api/symbols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377439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Liste des symboles surveilles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97480"/>
            <a:ext cx="6675120" cy="347472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74320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alibri"/>
              </a:rPr>
              <a:t>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27432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/api/metrics/:symbol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274320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Dernieres metriques pour un symbole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63240"/>
            <a:ext cx="6675120" cy="347472"/>
          </a:xfrm>
          <a:prstGeom prst="rect">
            <a:avLst/>
          </a:prstGeom>
          <a:solidFill>
            <a:srgbClr val="172033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08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alibri"/>
              </a:rPr>
              <a:t>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1089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/api/history/:symbol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31089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Historique ring buffer (500 entrees)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429000"/>
            <a:ext cx="6675120" cy="347472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47472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alibri"/>
              </a:rPr>
              <a:t>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47472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/api/anomalies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347472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Alertes anomalies recentes (z-score)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8862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  <a:latin typeface="Calibri"/>
              </a:rPr>
              <a:t>Evenements Socket.IO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297680"/>
            <a:ext cx="6675120" cy="347472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34340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alibri"/>
              </a:rPr>
              <a:t>Evenement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94560" y="434340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alibri"/>
              </a:rPr>
              <a:t>Direction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434340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alibri"/>
              </a:rPr>
              <a:t>Description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709160"/>
            <a:ext cx="6675120" cy="329184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7548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subscribe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94560" y="47548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5CF6"/>
                </a:solidFill>
                <a:latin typeface="Calibri"/>
              </a:rPr>
              <a:t>Client -&gt; Serveur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4754880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S'abonner a un symbole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056632"/>
            <a:ext cx="6675120" cy="329184"/>
          </a:xfrm>
          <a:prstGeom prst="rect">
            <a:avLst/>
          </a:prstGeom>
          <a:solidFill>
            <a:srgbClr val="172033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102352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unsubscribe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94560" y="5102352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5CF6"/>
                </a:solidFill>
                <a:latin typeface="Calibri"/>
              </a:rPr>
              <a:t>Client -&gt; Serveur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0480" y="510235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Se desabonner d'un symbole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404104"/>
            <a:ext cx="6675120" cy="329184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498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metrics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94560" y="54498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0B981"/>
                </a:solidFill>
                <a:latin typeface="Calibri"/>
              </a:rPr>
              <a:t>Serveur -&gt; Client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5449824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Mise a jour des metriques (push)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751576"/>
            <a:ext cx="6675120" cy="329184"/>
          </a:xfrm>
          <a:prstGeom prst="rect">
            <a:avLst/>
          </a:prstGeom>
          <a:solidFill>
            <a:srgbClr val="172033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57972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anomaly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94560" y="57972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0B981"/>
                </a:solidFill>
                <a:latin typeface="Calibri"/>
              </a:rPr>
              <a:t>Serveur -&gt; Client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40480" y="579729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Alerte anomalie detectee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099048"/>
            <a:ext cx="6675120" cy="329184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614476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error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614476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0B981"/>
                </a:solidFill>
                <a:latin typeface="Calibri"/>
              </a:rPr>
              <a:t>Serveur -&gt; Client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40480" y="614476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Erreur de traitement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360920" y="1143000"/>
            <a:ext cx="4370832" cy="292608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234440"/>
            <a:ext cx="4005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Ring Buffer par symbole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43800" y="1673352"/>
            <a:ext cx="40050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Chaque symbole dispose d'un buffer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43800" y="1901952"/>
            <a:ext cx="40050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circulaire de 500 metriques en memoire.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43800" y="2130552"/>
            <a:ext cx="40050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43800" y="2359152"/>
            <a:ext cx="40050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Permet de servir l'historique sans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43800" y="2587752"/>
            <a:ext cx="40050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persistance base de donnees.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543800" y="2816352"/>
            <a:ext cx="40050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43800" y="3044952"/>
            <a:ext cx="40050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const ringBuffers = new Map&lt;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43800" y="3273552"/>
            <a:ext cx="40050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  string,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43800" y="3502152"/>
            <a:ext cx="40050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  CircularBuffer&lt;Metrics&gt;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43800" y="3730752"/>
            <a:ext cx="40050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&gt;()  // keyed by symbol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43800" y="3959352"/>
            <a:ext cx="40050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43800" y="4187952"/>
            <a:ext cx="40050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A chaque message Kafka: push() O(1)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43800" y="4416552"/>
            <a:ext cx="40050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A chaque requete /history: getAll()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60920" y="4224528"/>
            <a:ext cx="4370832" cy="1947672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43800" y="4315968"/>
            <a:ext cx="4005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CORS et Securite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43800" y="4754880"/>
            <a:ext cx="4005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- CORS: origines whitelist strictes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43800" y="5010912"/>
            <a:ext cx="4005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- Helmet: headers HTTP securises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43800" y="5266944"/>
            <a:ext cx="4005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- Rate limiting: 100 req/min/IP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43800" y="5522976"/>
            <a:ext cx="4005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- Validation Zod: env vars au demarrage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543800" y="5779008"/>
            <a:ext cx="4005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- Socket.IO: validation namespace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43800" y="6035040"/>
            <a:ext cx="4005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- Non-root Docker: user node:node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7200" y="6537960"/>
            <a:ext cx="11274552" cy="91440"/>
          </a:xfrm>
          <a:prstGeom prst="rect">
            <a:avLst/>
          </a:prstGeom>
          <a:solidFill>
            <a:srgbClr val="F59E0B"/>
          </a:solidFill>
        </p:spPr>
        <p:txBody>
          <a:bodyPr wrap="none">
            <a:spAutoFit/>
          </a:bodyPr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457200" y="6629400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M1 EFREI - Real-Time Engineering 2025-2026  |  Adam Beloucif, Emilien Morice  |  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"/>
              </a:rPr>
              <a:t>Dashboard - Interface Temps Reel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36576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7040880" cy="4983480"/>
          </a:xfrm>
          <a:prstGeom prst="rect">
            <a:avLst/>
          </a:prstGeom>
          <a:solidFill>
            <a:srgbClr val="0D1422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704088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6766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[ Crypto Market Monitor ]  BTC/USDT  ETH/USDT  BTC-USD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645920"/>
            <a:ext cx="2011680" cy="777240"/>
          </a:xfrm>
          <a:prstGeom prst="rect">
            <a:avLst/>
          </a:prstGeom>
          <a:solidFill>
            <a:srgbClr val="1A2538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PRIX ACTUEL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20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ourier New"/>
              </a:rPr>
              <a:t>$43,210.50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645920"/>
            <a:ext cx="2011680" cy="777240"/>
          </a:xfrm>
          <a:prstGeom prst="rect">
            <a:avLst/>
          </a:prstGeom>
          <a:solidFill>
            <a:srgbClr val="1A2538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6916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VWAP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920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Courier New"/>
              </a:rPr>
              <a:t>$43,089.20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83480" y="1645920"/>
            <a:ext cx="2331720" cy="777240"/>
          </a:xfrm>
          <a:prstGeom prst="rect">
            <a:avLst/>
          </a:prstGeom>
          <a:solidFill>
            <a:srgbClr val="1A2538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169164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SMA-20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5CF6"/>
                </a:solidFill>
                <a:latin typeface="Courier New"/>
              </a:rPr>
              <a:t>$42,950.75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2560320"/>
            <a:ext cx="6675120" cy="2194560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633472"/>
            <a:ext cx="649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Prix (BTC/USDT) - Chart.js Line + Volume Bars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971800"/>
            <a:ext cx="6492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0B981"/>
                </a:solidFill>
                <a:latin typeface="Courier New"/>
              </a:rPr>
              <a:t>43500 |              *                                  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200400"/>
            <a:ext cx="6492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0B981"/>
                </a:solidFill>
                <a:latin typeface="Courier New"/>
              </a:rPr>
              <a:t>43000 |         *       *   *  *  *  *                  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429000"/>
            <a:ext cx="6492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0B981"/>
                </a:solidFill>
                <a:latin typeface="Courier New"/>
              </a:rPr>
              <a:t>42500 |   *  *                       *  *  *  *  *  * 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657600"/>
            <a:ext cx="6492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4A3B8"/>
                </a:solidFill>
                <a:latin typeface="Courier New"/>
              </a:rPr>
              <a:t>42000 +---------------------------------------------&gt;&gt;   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4892040"/>
            <a:ext cx="6675120" cy="1143000"/>
          </a:xfrm>
          <a:prstGeom prst="rect">
            <a:avLst/>
          </a:prstGeom>
          <a:solidFill>
            <a:srgbClr val="1A1010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98348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F4444"/>
                </a:solidFill>
                <a:latin typeface="Courier New"/>
              </a:rPr>
              <a:t>!! ANOMALIE DETECTEE  BTC/USDT  z-score: 3.12  Prix: $43,210  14:32:07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28523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59E0B"/>
                </a:solidFill>
                <a:latin typeface="Courier New"/>
              </a:rPr>
              <a:t>!! ANOMALIE DETECTEE  ETH/USDT  z-score: 2.78  Prix: $2,890   14:31:55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577840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ourier New"/>
              </a:rPr>
              <a:t>[son AudioContext active sur anomalie]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26679" y="1188720"/>
            <a:ext cx="4005072" cy="498348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9560" y="12801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Stack Frontend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09560" y="1783080"/>
            <a:ext cx="3639312" cy="411480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1819656"/>
            <a:ext cx="1417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alibri"/>
              </a:rPr>
              <a:t>HTML/CSS/JS vanilla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4040" y="1819656"/>
            <a:ext cx="1993392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Pas de framework - bundle minimal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2258568"/>
            <a:ext cx="3639312" cy="411480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01000" y="2295144"/>
            <a:ext cx="1417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alibri"/>
              </a:rPr>
              <a:t>Chart.js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4040" y="2295144"/>
            <a:ext cx="1993392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Graphiques temps reel (line + bar)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09560" y="2734056"/>
            <a:ext cx="3639312" cy="411480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01000" y="2770632"/>
            <a:ext cx="1417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alibri"/>
              </a:rPr>
              <a:t>Socket.IO Client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64040" y="2770632"/>
            <a:ext cx="1993392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Reception push depuis l'API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09560" y="3209544"/>
            <a:ext cx="3639312" cy="411480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01000" y="3246120"/>
            <a:ext cx="1417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alibri"/>
              </a:rPr>
              <a:t>CSS Variables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64040" y="3246120"/>
            <a:ext cx="1993392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Theming dark mode coherent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09560" y="3685032"/>
            <a:ext cx="3639312" cy="411480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01000" y="3721608"/>
            <a:ext cx="1417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alibri"/>
              </a:rPr>
              <a:t>AudioContext API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64040" y="3721608"/>
            <a:ext cx="1993392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Beep sur detection anomalie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09560" y="4160520"/>
            <a:ext cx="3639312" cy="411480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01000" y="4197096"/>
            <a:ext cx="1417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alibri"/>
              </a:rPr>
              <a:t>Glassmorphism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64040" y="4197096"/>
            <a:ext cx="1993392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Cards semi-transparentes (backdrop-blur)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09560" y="4636008"/>
            <a:ext cx="3639312" cy="411480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1000" y="4672584"/>
            <a:ext cx="1417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alibri"/>
              </a:rPr>
              <a:t>CSS Grid/Flex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64040" y="4672584"/>
            <a:ext cx="1993392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Layout responsive adaptatif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09560" y="5212080"/>
            <a:ext cx="3639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5CF6"/>
                </a:solidFill>
                <a:latin typeface="Calibri"/>
              </a:rPr>
              <a:t>i18n FR/EN integre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09560" y="5486400"/>
            <a:ext cx="3639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8FAFC"/>
                </a:solidFill>
                <a:latin typeface="Calibri"/>
              </a:rPr>
              <a:t>Bascule de langue sans rechargement, persistance localStorage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537960"/>
            <a:ext cx="11274552" cy="91440"/>
          </a:xfrm>
          <a:prstGeom prst="rect">
            <a:avLst/>
          </a:prstGeom>
          <a:solidFill>
            <a:srgbClr val="F59E0B"/>
          </a:solidFill>
        </p:spPr>
        <p:txBody>
          <a:bodyPr wrap="none">
            <a:spAutoFit/>
          </a:bodyPr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57200" y="6629400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M1 EFREI - Real-Time Engineering 2025-2026  |  Adam Beloucif, Emilien Morice  |  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"/>
              </a:rPr>
              <a:t>Securite - Mesures et Durcissement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365760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669280" cy="265176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73152" cy="2651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8016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HTTP &amp;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helmet: Content-Security-Policy, X-Frame-Options,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671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  HSTS, X-Content-Type-Options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51176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express-rate-limit: 100 req/min par 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35224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CORS: origines autorisees explicites (whitelist)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31927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Pas de stack trace exposee au client HTTP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188720"/>
            <a:ext cx="5669280" cy="265176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188720"/>
            <a:ext cx="73152" cy="2651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28016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Validation &amp; Env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78308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Zod: validation stricte des variables d'env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1671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  au demarrage (echec fast-fail si manquante)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551176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Aucun secret en dur dans le code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935224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Variables sensibles via .env (gitignore)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31927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Types TypeScript stricts (noImplicitAny: true)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69080"/>
            <a:ext cx="5669280" cy="265176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69080"/>
            <a:ext cx="73152" cy="2651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6052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Docker &amp; Infra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66344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Containers non-root: USER node:node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4748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Images Alpine/Distroless: surface d'attaque reduite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31536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Healthchecks sur chaque 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15584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Reseau Docker isole (bridge interne)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19963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Pas de ports inutiles exposes vers l'hote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4069080"/>
            <a:ext cx="5669280" cy="265176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80" y="4069080"/>
            <a:ext cx="73152" cy="2651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6052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  <a:latin typeface="Calibri"/>
              </a:rPr>
              <a:t>Donnees &amp; Connexions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66344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WebSocket: reconnexion avec backoff exponentiel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04748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Kafka: pas d'auth en dev local (acceptable)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5431536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Ring buffers: pas de persistance disque de donnees brutes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5815584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Logs: sans donnees sensibles utilisateur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619963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OWASP Top 10: verification XSS, injection, IDOR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37960"/>
            <a:ext cx="11274552" cy="91440"/>
          </a:xfrm>
          <a:prstGeom prst="rect">
            <a:avLst/>
          </a:prstGeom>
          <a:solidFill>
            <a:srgbClr val="F59E0B"/>
          </a:solidFill>
        </p:spPr>
        <p:txBody>
          <a:bodyPr wrap="none">
            <a:spAutoFit/>
          </a:bodyPr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57200" y="6629400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M1 EFREI - Real-Time Engineering 2025-2026  |  Adam Beloucif, Emilien Morice  |  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"/>
              </a:rPr>
              <a:t>Multilinguisme - Module i18n FR/EN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365760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0" cy="498348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  <a:latin typeface="Calibri"/>
              </a:rPr>
              <a:t>Architecture i18n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Module: dashboard/js/i18n.js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75104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12848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Principe: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- Attribut data-i18n sur chaque element 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88336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- Dictionnaire JS par langue (fr, 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- Fonction t(key) retourne la traduction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63824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- Bascule sans rechargement de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01568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- Langue persistee en localStorage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39312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77056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Exemple HTML: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&lt;span data-i18n="price"&gt;Prix&lt;/span&gt;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52544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90288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Exemple JS: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828031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document.querySelectorAll('[data-i18n]')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065776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  .forEach(el =&gt; {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03520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    el.textContent = t(el.dataset.i18n)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41264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  })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79008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016752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Langues supportees: FR (defaut), 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54496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Clef manquante: fallback vers FR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15000" y="1188720"/>
            <a:ext cx="6016752" cy="498348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97880" y="1280160"/>
            <a:ext cx="5650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Cles de traduction (extrait)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97880" y="1691640"/>
            <a:ext cx="5650992" cy="301752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0" y="171907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ourier New"/>
              </a:rPr>
              <a:t>Cle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1719072"/>
            <a:ext cx="20116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alibri"/>
              </a:rPr>
              <a:t>FR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1719072"/>
            <a:ext cx="1828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alibri"/>
              </a:rPr>
              <a:t>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97880" y="2011680"/>
            <a:ext cx="5650992" cy="301752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203911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title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2039112"/>
            <a:ext cx="20116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Surveillance Crypto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2039112"/>
            <a:ext cx="1828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alibri"/>
              </a:rPr>
              <a:t>Crypto Monitor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97880" y="2331720"/>
            <a:ext cx="5650992" cy="301752"/>
          </a:xfrm>
          <a:prstGeom prst="rect">
            <a:avLst/>
          </a:prstGeom>
          <a:solidFill>
            <a:srgbClr val="172033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2359151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price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2359151"/>
            <a:ext cx="20116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Prix actuel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2359151"/>
            <a:ext cx="1828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alibri"/>
              </a:rPr>
              <a:t>Current price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97880" y="2651760"/>
            <a:ext cx="5650992" cy="301752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0" y="2679191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volume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79" y="2679191"/>
            <a:ext cx="20116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Volume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2679191"/>
            <a:ext cx="1828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alibri"/>
              </a:rPr>
              <a:t>Volume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97880" y="2971800"/>
            <a:ext cx="5650992" cy="301752"/>
          </a:xfrm>
          <a:prstGeom prst="rect">
            <a:avLst/>
          </a:prstGeom>
          <a:solidFill>
            <a:srgbClr val="172033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0" y="299923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anomaly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79" y="2999232"/>
            <a:ext cx="20116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Anomalie detectee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0" y="2999232"/>
            <a:ext cx="1828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alibri"/>
              </a:rPr>
              <a:t>Anomaly detected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97880" y="3291840"/>
            <a:ext cx="5650992" cy="301752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0" y="331927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vwap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8079" y="3319272"/>
            <a:ext cx="20116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VWAP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3319272"/>
            <a:ext cx="1828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alibri"/>
              </a:rPr>
              <a:t>VWAP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97880" y="3611879"/>
            <a:ext cx="5650992" cy="301752"/>
          </a:xfrm>
          <a:prstGeom prst="rect">
            <a:avLst/>
          </a:prstGeom>
          <a:solidFill>
            <a:srgbClr val="172033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0" y="3639311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sma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79" y="3639311"/>
            <a:ext cx="20116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Moyenne mobile 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3639311"/>
            <a:ext cx="1828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alibri"/>
              </a:rPr>
              <a:t>Moving avg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97880" y="3931920"/>
            <a:ext cx="5650992" cy="301752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43600" y="395935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change1m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79" y="3959352"/>
            <a:ext cx="20116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Variation 1 min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01200" y="3959352"/>
            <a:ext cx="1828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alibri"/>
              </a:rPr>
              <a:t>1 min change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97880" y="4251960"/>
            <a:ext cx="5650992" cy="301752"/>
          </a:xfrm>
          <a:prstGeom prst="rect">
            <a:avLst/>
          </a:prstGeom>
          <a:solidFill>
            <a:srgbClr val="172033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0" y="427939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change5m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98079" y="4279392"/>
            <a:ext cx="20116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Variation 5 min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4279392"/>
            <a:ext cx="1828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alibri"/>
              </a:rPr>
              <a:t>5 min change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897880" y="4572000"/>
            <a:ext cx="5650992" cy="301752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943600" y="459943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lang_toggle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98079" y="4599432"/>
            <a:ext cx="20116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EN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01200" y="4599432"/>
            <a:ext cx="1828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alibri"/>
              </a:rPr>
              <a:t>FR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897880" y="4892040"/>
            <a:ext cx="5650992" cy="301752"/>
          </a:xfrm>
          <a:prstGeom prst="rect">
            <a:avLst/>
          </a:prstGeom>
          <a:solidFill>
            <a:srgbClr val="172033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43600" y="491947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status_connected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98079" y="4919472"/>
            <a:ext cx="20116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Connecte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01200" y="4919472"/>
            <a:ext cx="1828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alibri"/>
              </a:rPr>
              <a:t>Connected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897880" y="5212079"/>
            <a:ext cx="5650992" cy="301752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943600" y="5239512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status_disconnected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98079" y="5239512"/>
            <a:ext cx="20116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Deconnecte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01200" y="5239512"/>
            <a:ext cx="1828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alibri"/>
              </a:rPr>
              <a:t>Disconnected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897880" y="5532119"/>
            <a:ext cx="5650992" cy="301752"/>
          </a:xfrm>
          <a:prstGeom prst="rect">
            <a:avLst/>
          </a:prstGeom>
          <a:solidFill>
            <a:srgbClr val="172033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943600" y="5559551"/>
            <a:ext cx="1463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urier New"/>
              </a:rPr>
              <a:t>last_update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98079" y="5559551"/>
            <a:ext cx="20116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Derniere mise a jour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01200" y="5559551"/>
            <a:ext cx="1828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alibri"/>
              </a:rPr>
              <a:t>Last update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7200" y="6537960"/>
            <a:ext cx="11274552" cy="91440"/>
          </a:xfrm>
          <a:prstGeom prst="rect">
            <a:avLst/>
          </a:prstGeom>
          <a:solidFill>
            <a:srgbClr val="F59E0B"/>
          </a:solidFill>
        </p:spPr>
        <p:txBody>
          <a:bodyPr wrap="none">
            <a:spAutoFit/>
          </a:bodyPr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57200" y="6629400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M1 EFREI - Real-Time Engineering 2025-2026  |  Adam Beloucif, Emilien Morice  | 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"/>
              </a:rPr>
              <a:t>Deploiement - Docker Compose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36576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Services Docker Compose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1274552" cy="347472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alibri"/>
              </a:rPr>
              <a:t>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alibri"/>
              </a:rPr>
              <a:t>Image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60020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alibri"/>
              </a:rPr>
              <a:t>Ports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6002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alibri"/>
              </a:rPr>
              <a:t>Role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65960"/>
            <a:ext cx="11274552" cy="429768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965960"/>
            <a:ext cx="36576" cy="4297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29967"/>
            <a:ext cx="1325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ourier New"/>
              </a:rPr>
              <a:t>kafka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029967"/>
            <a:ext cx="2560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ourier New"/>
              </a:rPr>
              <a:t>confluentinc/cp-kafka:7.6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029967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9092:9092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029967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Broker Kafka en mode KRaft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423160"/>
            <a:ext cx="11274552" cy="429768"/>
          </a:xfrm>
          <a:prstGeom prst="rect">
            <a:avLst/>
          </a:prstGeom>
          <a:solidFill>
            <a:srgbClr val="172033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423160"/>
            <a:ext cx="36576" cy="4297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487168"/>
            <a:ext cx="1325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ourier New"/>
              </a:rPr>
              <a:t>kafka-ui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2487168"/>
            <a:ext cx="2560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ourier New"/>
              </a:rPr>
              <a:t>provectus/kafka-ui:latest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2487168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8080:8080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487168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Interface web monitoring Kafka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880360"/>
            <a:ext cx="11274552" cy="429768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2880360"/>
            <a:ext cx="36576" cy="4297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944368"/>
            <a:ext cx="1325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ourier New"/>
              </a:rPr>
              <a:t>ingester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2944368"/>
            <a:ext cx="2560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ourier New"/>
              </a:rPr>
              <a:t>node:20-alpine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944368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944368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Collecte WebSocket Binance + Coinbase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337560"/>
            <a:ext cx="11274552" cy="429768"/>
          </a:xfrm>
          <a:prstGeom prst="rect">
            <a:avLst/>
          </a:prstGeom>
          <a:solidFill>
            <a:srgbClr val="172033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337560"/>
            <a:ext cx="36576" cy="4297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401568"/>
            <a:ext cx="1325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ourier New"/>
              </a:rPr>
              <a:t>processor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3401568"/>
            <a:ext cx="2560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ourier New"/>
              </a:rPr>
              <a:t>node:20-alpine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3401568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3401568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Calcul VWAP, SMA, Z-score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94760"/>
            <a:ext cx="11274552" cy="429768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3794760"/>
            <a:ext cx="36576" cy="4297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858768"/>
            <a:ext cx="1325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ourier New"/>
              </a:rPr>
              <a:t>api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58768"/>
            <a:ext cx="2560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ourier New"/>
              </a:rPr>
              <a:t>node:20-alpine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63440" y="3858768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3000:3000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3858768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API Express + Socket.IO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251960"/>
            <a:ext cx="11274552" cy="429768"/>
          </a:xfrm>
          <a:prstGeom prst="rect">
            <a:avLst/>
          </a:prstGeom>
          <a:solidFill>
            <a:srgbClr val="172033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251960"/>
            <a:ext cx="36576" cy="4297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315968"/>
            <a:ext cx="1325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ourier New"/>
              </a:rPr>
              <a:t>dashboard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315968"/>
            <a:ext cx="2560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ourier New"/>
              </a:rPr>
              <a:t>nginx:alpine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315968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8000:80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4315968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Serve HTML/CSS/JS via nginx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754880"/>
            <a:ext cx="5394960" cy="192024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8463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Healthchecks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28523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kafka:    nc -z localhost 9092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551383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api:      curl -f /api/health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74243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dashboard: curl -f /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97103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619963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ourier New"/>
              </a:rPr>
              <a:t>interval: 10s  timeout: 5s  retries: 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642823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Dependences: ingester/processor dependent de kafka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4754880"/>
            <a:ext cx="5650992" cy="192024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63640" y="4846320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Volumes et demarrage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63640" y="5285232"/>
            <a:ext cx="52852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Volume: kafka_data (donnees Kafka persistees)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63640" y="5513832"/>
            <a:ext cx="52852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63640" y="5742432"/>
            <a:ext cx="52852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Commandes: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63640" y="5971032"/>
            <a:ext cx="52852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  docker compose up -d     # demarrage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63640" y="6199632"/>
            <a:ext cx="52852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  docker compose logs -f   # logs live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63640" y="6428232"/>
            <a:ext cx="52852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urier New"/>
              </a:rPr>
              <a:t>  docker compose down -v   # reset complet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63640" y="6656832"/>
            <a:ext cx="52852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/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63640" y="6885432"/>
            <a:ext cx="52852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Acces services apres demarrage: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63640" y="7114032"/>
            <a:ext cx="52852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  Dashboard:  http://localhost:8000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63640" y="7342632"/>
            <a:ext cx="52852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  API REST:   http://localhost:3000/api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63640" y="7571232"/>
            <a:ext cx="52852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  Kafka UI:   http://localhost:8080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6537960"/>
            <a:ext cx="11274552" cy="91440"/>
          </a:xfrm>
          <a:prstGeom prst="rect">
            <a:avLst/>
          </a:prstGeom>
          <a:solidFill>
            <a:srgbClr val="F59E0B"/>
          </a:solidFill>
        </p:spPr>
        <p:txBody>
          <a:bodyPr wrap="none">
            <a:spAutoFit/>
          </a:bodyPr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457200" y="6629400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M1 EFREI - Real-Time Engineering 2025-2026  |  Adam Beloucif, Emilien Morice  | 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73152" cy="67848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"/>
              </a:rPr>
              <a:t>Conclusion et Bilan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03520" cy="3108960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Ce qui a ete realise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OK  Pipeline complet: WebSocket -&gt; Kafka -&gt; Analytics -&gt;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48255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OK  Kafka KRaft sans Zookeeper (production-ready)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5915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OK  3 feeds WebSocket: Binance (x2 symboles) + Coinbase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7004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OK  3 indicateurs temps reel: VWAP, SMA-20, Z-score anomaly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809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OK  Dashboard live avec Chart.js + alertes sonores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OK  i18n FR/EN sans framework, persistance localStorage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0273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OK  Securite: helmet + rate-limit + Zod validation + CORS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1363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OK  Deploiement Docker Compose 6 services avec healthchecks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2452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8FAFC"/>
                </a:solidFill>
                <a:latin typeface="Calibri"/>
              </a:rPr>
              <a:t>OK  Realise par 2 personnes (projet prevu pour 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188720"/>
            <a:ext cx="5650992" cy="3108960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280160"/>
            <a:ext cx="5285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  <a:latin typeface="Calibri"/>
              </a:rPr>
              <a:t>Perspectives et evolutions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285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+  Persistance: TimescaleDB ou InfluxDB pour historique long terme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048255"/>
            <a:ext cx="5285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+  Alertes: notifications Telegram/email sur anomalie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359152"/>
            <a:ext cx="5285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+  Machine Learning: prediction de tendance (LSTM, Prophet)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670048"/>
            <a:ext cx="5285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+  Broker secondaire: Kraken ou OKX pour diversite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980944"/>
            <a:ext cx="5285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+  Auth utilisateur: JWT + gestion de portefeuilles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291840"/>
            <a:ext cx="5285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+  Backtest: replay de donnees historiques sur le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602736"/>
            <a:ext cx="5285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+  CI/CD: GitHub Actions + tests automatises E2E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913632"/>
            <a:ext cx="5285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+  Monitoring: Prometheus + Grafana pour metriques infra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434840"/>
            <a:ext cx="11274552" cy="1737360"/>
          </a:xfrm>
          <a:prstGeom prst="rect">
            <a:avLst/>
          </a:prstGeom>
          <a:solidFill>
            <a:srgbClr val="0F172A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5262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Competences acquises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937760"/>
            <a:ext cx="1317879" cy="68580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937760"/>
            <a:ext cx="13178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Calibri"/>
              </a:rPr>
              <a:t>Apache Kafka KRaft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57959" y="4937760"/>
            <a:ext cx="1317879" cy="68580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57959" y="4937760"/>
            <a:ext cx="13178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Calibri"/>
              </a:rPr>
              <a:t>WebSocket haute-freq.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67278" y="4937760"/>
            <a:ext cx="1317879" cy="68580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67278" y="4937760"/>
            <a:ext cx="13178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Calibri"/>
              </a:rPr>
              <a:t>Analytics temps reel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76597" y="4937760"/>
            <a:ext cx="1317879" cy="68580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76597" y="4937760"/>
            <a:ext cx="13178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Calibri"/>
              </a:rPr>
              <a:t>TypeScript strict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5916" y="4937760"/>
            <a:ext cx="1317879" cy="68580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85916" y="4937760"/>
            <a:ext cx="13178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Calibri"/>
              </a:rPr>
              <a:t>Docker Compose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95235" y="4937760"/>
            <a:ext cx="1317879" cy="68580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95235" y="4937760"/>
            <a:ext cx="13178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Calibri"/>
              </a:rPr>
              <a:t>Socket.IO push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04554" y="4937760"/>
            <a:ext cx="1317879" cy="68580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04554" y="4937760"/>
            <a:ext cx="13178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Calibri"/>
              </a:rPr>
              <a:t>Securite API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413873" y="4937760"/>
            <a:ext cx="1317879" cy="685800"/>
          </a:xfrm>
          <a:prstGeom prst="rect">
            <a:avLst/>
          </a:prstGeom>
          <a:solidFill>
            <a:srgbClr val="1E293B"/>
          </a:solidFill>
          <a:ln w="9525">
            <a:solidFill>
              <a:srgbClr val="2D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13873" y="4937760"/>
            <a:ext cx="13178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Calibri"/>
              </a:rPr>
              <a:t>i18n vanilla JS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30936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Adam Beloucif  -  Emilien Morice  -  M1 Data Engineering &amp; IA  -  EFREI Paris 2025-2026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6784848"/>
            <a:ext cx="1211580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