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3192" cy="54864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CRYPTO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Surveillance temps reel des marches crypto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2743200" cy="45720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43B8"/>
                </a:solidFill>
              </a:rPr>
              <a:t>Apache Kafka  -  Node.js  -  TypeScript  -  Socket.IO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6400800" cy="16459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Adam Beloucif  &amp;  Emilien Morice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3B8"/>
                </a:solidFill>
              </a:rPr>
              <a:t>M1 Data Engineering &amp; IA  -  EFREI Paris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9379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Module Real-Time Engineering  -  2025-2026</a:t>
            </a:r>
          </a:p>
        </p:txBody>
      </p:sp>
      <p:pic>
        <p:nvPicPr>
          <p:cNvPr id="12" name="Picture 11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015746" cy="54864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3B8"/>
                </a:solidFill>
              </a:rPr>
              <a:t>CONTEXTE &amp; PROBLEMATIQUE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43B8"/>
                </a:solidFill>
              </a:rPr>
              <a:t>2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Pourquoi surveiller
les marches en temps reel 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3474720" cy="1645920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246120"/>
            <a:ext cx="3474720" cy="54864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43B8"/>
                </a:solidFill>
              </a:rPr>
              <a:t>100M+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0507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transactions/jour
Binance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246120"/>
            <a:ext cx="3474720" cy="1645920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3246120"/>
            <a:ext cx="3474720" cy="54864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3375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43B8"/>
                </a:solidFill>
              </a:rPr>
              <a:t>&lt; 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00507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latence cible
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246120"/>
            <a:ext cx="3474720" cy="1645920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246120"/>
            <a:ext cx="3474720" cy="54864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3375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43B8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0507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sources
Binance + Coinbase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Kafka decouples ingestion from processing - N consumers, zero data loss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2031492" cy="54864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653A0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653A0"/>
                </a:solidFill>
              </a:rPr>
              <a:t>3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Pipeline
Kafka bout-en-bout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017520"/>
            <a:ext cx="2103120" cy="1280160"/>
          </a:xfrm>
          <a:prstGeom prst="rect">
            <a:avLst/>
          </a:prstGeom>
          <a:solidFill>
            <a:srgbClr val="95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WebSocket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07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Binance + Coinbase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3566160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3017520"/>
            <a:ext cx="2103120" cy="1280160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Ingester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407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normalisation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3566160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3479" y="3017520"/>
            <a:ext cx="2103120" cy="128016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Kafka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KRaft 3.7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4407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tampon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04888" y="3566160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199" y="3017520"/>
            <a:ext cx="2103120" cy="1280160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Processor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VWAP / SMA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9" y="4407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36607" y="3566160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46919" y="3017520"/>
            <a:ext cx="2103120" cy="1280160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API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Socket.IO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4407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live push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92040"/>
            <a:ext cx="11521440" cy="16002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892040"/>
            <a:ext cx="45720" cy="1600200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Decoupling garanti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7667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Les producteurs et consommateurs fonctionnent a des debits independants. Partition par symbole (BTC-USDT, ETH-USDT, BTC-USD). Retention 1h, relecture possible en cas de crash.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3047238" cy="54864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5569E"/>
                </a:solidFill>
              </a:rPr>
              <a:t>APACHE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569E"/>
                </a:solidFill>
              </a:rPr>
              <a:t>4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KRaft : Kafka
sans Zookeeper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71800"/>
            <a:ext cx="5212080" cy="35204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64008" cy="3520440"/>
          </a:xfrm>
          <a:prstGeom prst="rect">
            <a:avLst/>
          </a:prstGeom>
          <a:solidFill>
            <a:srgbClr val="95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Kafka 3.7 gere ses metadonnees via Raft
interne - 1 seul conteneur, 0 Zookeeper.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5569E"/>
                </a:solidFill>
              </a:rPr>
              <a:t>bitnami/kafka:3.7  (KRaft pre-configure)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Producteurs ecrivent a la vitesse du marche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01184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Consommateurs lisent a leur propre rythme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2180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Partition par symbole, ordre garanti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4243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Retention 1h - relecture en cas de crash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71800"/>
            <a:ext cx="5577840" cy="35204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971800"/>
            <a:ext cx="64008" cy="3520440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5212080" cy="1097280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5569E"/>
                </a:solidFill>
              </a:rPr>
              <a:t>crypto-trades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41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Transactions brutes normalisees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3525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3 partitions, 1h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846320"/>
            <a:ext cx="5212080" cy="1097280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9377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5569E"/>
                </a:solidFill>
              </a:rPr>
              <a:t>crypto-metrics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3218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Metriques calculees (VWAP...)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6327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3 partitions, 1h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4062984" cy="54864"/>
          </a:xfrm>
          <a:prstGeom prst="rect">
            <a:avLst/>
          </a:prstGeom>
          <a:solidFill>
            <a:srgbClr val="95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7AB6"/>
                </a:solidFill>
              </a:rPr>
              <a:t>SERVICE INGESTER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7AB6"/>
                </a:solidFill>
              </a:rPr>
              <a:t>5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Collecte
des flux WebSocket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539496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64008" cy="3566160"/>
          </a:xfrm>
          <a:prstGeom prst="rect">
            <a:avLst/>
          </a:prstGeom>
          <a:solidFill>
            <a:srgbClr val="337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Binance : BTC/USDT + ETH/USDT (stream combine)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9534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Coinbase : BTC-USD (Advanced Trade 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159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Interface Trade normalisee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3659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Cle Kafka = symbole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{ exchange, symbol, price, quantity,
  timestamp, tradeId, side, value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926080"/>
            <a:ext cx="557784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64008" cy="3566160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Resilience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7472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Reconnexion auto - backoff exponentiel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95344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Max 10 tentatives, delai max 30s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159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Heartbeat Coinbase gere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73659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Arret propre SIGTERM/SIGINT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15721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Vidage buffer Kafka avant arret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5078730" cy="54864"/>
          </a:xfrm>
          <a:prstGeom prst="rect">
            <a:avLst/>
          </a:prstGeom>
          <a:solidFill>
            <a:srgbClr val="337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7AB6"/>
                </a:solidFill>
              </a:rPr>
              <a:t>SERVICE PROCESSOR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7AB6"/>
                </a:solidFill>
              </a:rPr>
              <a:t>6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Analytique
en fenetre glissante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11521440" cy="384048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3B8"/>
                </a:solidFill>
              </a:rPr>
              <a:t>Metrique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3B8"/>
                </a:solidFill>
              </a:rPr>
              <a:t>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3B8"/>
                </a:solidFill>
              </a:rPr>
              <a:t>Fenetre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3B8"/>
                </a:solidFill>
              </a:rPr>
              <a:t>Objectif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11521440" cy="48463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19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VWAP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198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sum(prix x qte) / sum(qte)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198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3B8"/>
                </a:solidFill>
              </a:rPr>
              <a:t>1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9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Prix moyen pondere par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11521440" cy="484632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227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SMA-20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227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moyenne 20 derniers prix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227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3B8"/>
                </a:solidFill>
              </a:rPr>
              <a:t>20 trades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9227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Tendance lissee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11521440" cy="48463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256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4256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(val - mu) / sigma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256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3B8"/>
                </a:solidFill>
              </a:rPr>
              <a:t>1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4256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Anomalie si &gt; 2.5 sigma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46320"/>
            <a:ext cx="11521440" cy="484632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Var. 1min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9286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(prix - prix0) / prix0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286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3B8"/>
                </a:solidFill>
              </a:rPr>
              <a:t>1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9286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Performance instantanee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49240"/>
            <a:ext cx="11521440" cy="48463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4315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Var. 5min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4315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(prix - prix0) / prix0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315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3B8"/>
                </a:solidFill>
              </a:rPr>
              <a:t>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4315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Performance moyen terme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52160"/>
            <a:ext cx="11521440" cy="484632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934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High/Low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9344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max / min des prix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9344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3B8"/>
                </a:solidFill>
              </a:rPr>
              <a:t>1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934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Amplitude de la bougie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Buffer circulaire : max 1000 trades / symbole, eviction TTL 10 minutes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803136"/>
            <a:ext cx="6094476" cy="54864"/>
          </a:xfrm>
          <a:prstGeom prst="rect">
            <a:avLst/>
          </a:prstGeom>
          <a:solidFill>
            <a:srgbClr val="337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7AB6"/>
                </a:solidFill>
              </a:rPr>
              <a:t>SERVICE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7AB6"/>
                </a:solidFill>
              </a:rPr>
              <a:t>7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Express + Socket.IO
REST &amp; Push temps reel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539496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64008" cy="3566160"/>
          </a:xfrm>
          <a:prstGeom prst="rect">
            <a:avLst/>
          </a:prstGeom>
          <a:solidFill>
            <a:srgbClr val="337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REST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GET /api/health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GET /api/metrics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GET /api/metrics/:symbol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GET /api/history/:symbol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GET /api/anomalies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926080"/>
            <a:ext cx="557784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64008" cy="3566160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Evenements Socket.IO (push)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20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3B8"/>
                </a:solidFill>
              </a:rPr>
              <a:t>metrics:update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520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Metriques calculees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3B8"/>
                </a:solidFill>
              </a:rPr>
              <a:t>anomaly:detected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0233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Alerte z-score &gt; seuil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26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3B8"/>
                </a:solidFill>
              </a:rPr>
              <a:t>server:stats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526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Stats connexions / msg/s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29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3B8"/>
                </a:solidFill>
              </a:rPr>
              <a:t>initial:state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0292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Etat complet a la connexion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532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3B8"/>
                </a:solidFill>
              </a:rPr>
              <a:t>subscribe:symbol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5321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Choix de la paire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7110222" cy="54864"/>
          </a:xfrm>
          <a:prstGeom prst="rect">
            <a:avLst/>
          </a:prstGeom>
          <a:solidFill>
            <a:srgbClr val="337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3B8"/>
                </a:solidFill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43B8"/>
                </a:solidFill>
              </a:rPr>
              <a:t>8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Interface
tout-en-un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539496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64008" cy="3566160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Composants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Prix hero - flash vert/rouge au changement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77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Badges variation 1min et 5min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79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4 stat-cards : Volume, Trades, High,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817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Chart.js : ligne prix + SMA-20 superposee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840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Barres volume par paire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Flux anomalies + beep AudioContext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557784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926080"/>
            <a:ext cx="64008" cy="3566160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Design &amp;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74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Dark theme EFREI navy + rose #ff43b8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770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Logos SVG : Bitcoin, Ethereum, Coinbase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793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Barre gradient EFREI en haut de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6817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i18n FR/EN - bascule locale localStorage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0840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Mode demo si backend inaccessible (3s)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486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Inter + JetBrains Mono, prefers-reduced-motion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8125968" cy="54864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</a:rPr>
              <a:t>SECURITE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87171"/>
                </a:solidFill>
              </a:rPr>
              <a:t>9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Production-ready
depuis le jour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834640"/>
            <a:ext cx="11521440" cy="347472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077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Composant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9077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Protection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18688"/>
            <a:ext cx="11521440" cy="493776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101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helmet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310128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HTTP headers de securite (CSP, HSTS, X-Frame, nosniff)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39896"/>
            <a:ext cx="11521440" cy="493776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31335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express-rate-limit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831335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100 req / 15min / IP - anti brute-force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61104"/>
            <a:ext cx="11521440" cy="493776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5254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352544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Validation stricte des variables d'environnement au demarrage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82312"/>
            <a:ext cx="11521440" cy="493776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7375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CORS strict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873752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Whitelist explicite - pas de wildcard en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03520"/>
            <a:ext cx="11521440" cy="493776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94959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Non-root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394959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Tous les conteneurs en appuser (UID 1000)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824727"/>
            <a:ext cx="11521440" cy="493776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91616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Secrets via env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916167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Zero secret en dur - .env gitignored, .dockerignore complet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9141714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INTERNATIONALISATION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4D399"/>
                </a:solidFill>
              </a:rPr>
              <a:t>10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i18n FR/EN
vanilla JS, zero dep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539496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64008" cy="3566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Module IIFE I18n - zero dependance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77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JSON async fetch depuis i18n/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79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Persistence localStorage (cmm-locale)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817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data-i18n sur tous les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840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Intl API pour formatage locale-aware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aria-pressed sur les boutons FR/EN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557784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926080"/>
            <a:ext cx="64008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Exemple fr.json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204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{
  "title": "CRYPTO MONITOR",
  "live": "EN DIRECT",
  "connected": "Connecte",
  "anomalies": {
    "title": "Alertes anomalies",
    "zscore": "Score Z"
  },
  "footer": {
    "module": "Ingenierie Temps Reel"
  }
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01574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653A0"/>
                </a:solidFill>
              </a:rPr>
              <a:t>DEPLOIEMENT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653A0"/>
                </a:solidFill>
              </a:rPr>
              <a:t>11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3 options
de deploiement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880360"/>
            <a:ext cx="3794760" cy="36576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880360"/>
            <a:ext cx="3794760" cy="64008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43B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4747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Lanceur
autonomne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416052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node launcher/src/index.mjs
Verifie Docker, build, attend
les healthchecks.
Compile en .exe (pkg) :
npm run build:win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880360"/>
            <a:ext cx="3794760" cy="36576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2880360"/>
            <a:ext cx="3794760" cy="64008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1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653A0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34747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Image
tout-en-un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1" y="416052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docker build \
  -f all-in-one.Dockerfile \
  -t crypto-monitor .
docker run -p 8080:8080
  crypto-monitor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2880360"/>
            <a:ext cx="3794760" cy="36576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2880360"/>
            <a:ext cx="3794760" cy="64008"/>
          </a:xfrm>
          <a:prstGeom prst="rect">
            <a:avLst/>
          </a:prstGeom>
          <a:solidFill>
            <a:srgbClr val="95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5569E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34747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Docker
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416052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cp .env.example .env
docker-compose up -d
Dashboard  :8080
Kafka UI   :8090
API        :3001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1173206" cy="54864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3B8"/>
                </a:solidFill>
              </a:rPr>
              <a:t>BILAN &amp;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645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43B8"/>
                </a:solidFill>
              </a:rPr>
              <a:t>12 / 12</a:t>
            </a:r>
          </a:p>
        </p:txBody>
      </p:sp>
      <p:pic>
        <p:nvPicPr>
          <p:cNvPr id="4" name="Picture 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11430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Realise a 2
pour une consigne de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539496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64008" cy="3566160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Pipeline Kafka bout-en-bout fonctionnel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77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3 services TypeScript production-ready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79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Dashboard EFREI-branded FR/EN + mode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817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Securite : helmet, rate-limit, zod, non-root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840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3 options deploiement dont .exe standalone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926080"/>
            <a:ext cx="5577840" cy="356616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64008" cy="3566160"/>
          </a:xfrm>
          <a:prstGeom prst="rect">
            <a:avLst/>
          </a:prstGeom>
          <a:solidFill>
            <a:srgbClr val="36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Evolutions possibles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74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SOL, BNB, XRP - nouvelles paires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770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Alertes email/SMS via Kafka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793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InfluxDB / TimescaleDB pour historique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6817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Kubernetes + Helm pour la scalabilite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840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Auth JWT REST + Socket.IO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